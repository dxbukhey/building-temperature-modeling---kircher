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377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KIRCHER RESEARCH  /  TEMPERATURE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temperature prediction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3776" y="1298448"/>
            <a:ext cx="11091672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6547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" y="16276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deliverables  •  Steps 1–5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21208" y="22677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15-minute data  •  May 12 – July 8, 2026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1208" y="3127248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644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24-hour RMSE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60273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0.464°C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731520" y="416966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 · retrained checkpoint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78808" y="3127248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2644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baseline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360273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1.166°C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4389120" y="416966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24-hour RMSE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36408" y="3127248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32644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Reduction vs linear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360273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8046720" y="416966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Preliminary validation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" y="584301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results are validation-only. Independent test data was not supplied.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377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KIRCHER RESEARCH  /  TEMPERATURE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&amp; measurement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3776" y="1298448"/>
            <a:ext cx="11091672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6547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" y="1572768"/>
            <a:ext cx="5413248" cy="3566160"/>
          </a:xfrm>
          <a:prstGeom prst="roundRect">
            <a:avLst>
              <a:gd name="adj" fmla="val 3077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572768"/>
            <a:ext cx="5285232" cy="3566160"/>
          </a:xfrm>
          <a:prstGeom prst="roundRect">
            <a:avLst>
              <a:gd name="adj" fmla="val 3077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9019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indoor temperature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" y="253288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minutes ahead → then hours ahead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05256" y="3502152"/>
            <a:ext cx="4645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 weather, energy, cooling, schedules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47104" y="1901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five models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47104" y="2523744"/>
            <a:ext cx="4407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 •  Linear regression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47104" y="3328416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 •  Neural network  •  LSTM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705856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Score: temperature RMSE (°C) · lower is better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377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KIRCHER RESEARCH  /  TEMPERATURE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 |  Dataset built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3776" y="1298448"/>
            <a:ext cx="11091672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6547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6072" y="169164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2880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transitions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16712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4,127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86384" y="2734056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 June 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82880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transitions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53712" y="216712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1,331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4553712" y="2734056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June 25 – July 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1584" y="1691640"/>
            <a:ext cx="3493008" cy="13716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182880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input columns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11896" y="216712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8311896" y="2734056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features + cooling power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5021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applied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" y="4041648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Both rows valid and exactly 15 minutes apart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Chronological split; no random shuffle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Inputs aligned to the appendix definitions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377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KIRCHER RESEARCH  /  TEMPERATURE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  |  Baselines reproduced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3776" y="1298448"/>
            <a:ext cx="11091672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6547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270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values matched to 3 decimals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86200" y="2395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min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2395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6096" y="2395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55480" y="2395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Open-loop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2834640"/>
            <a:ext cx="11018520" cy="713232"/>
          </a:xfrm>
          <a:prstGeom prst="roundRect">
            <a:avLst>
              <a:gd name="adj" fmla="val 15385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26664"/>
            <a:ext cx="3154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86200" y="302666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0.190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60720" y="302666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1.532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6096" y="302666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2.341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55480" y="302666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2.058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" y="3685032"/>
            <a:ext cx="11018520" cy="713232"/>
          </a:xfrm>
          <a:prstGeom prst="roundRect">
            <a:avLst>
              <a:gd name="adj" fmla="val 15385"/>
            </a:avLst>
          </a:prstGeom>
          <a:solidFill>
            <a:srgbClr val="EDF7F6"/>
          </a:solidFill>
          <a:ln w="12700">
            <a:solidFill>
              <a:srgbClr val="EDF7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77056"/>
            <a:ext cx="3154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86200" y="387705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0.167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60720" y="387705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0.840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26096" y="387705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1.166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55480" y="387705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1.465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6656" y="4992624"/>
            <a:ext cx="9875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model thermal capacitance: 163.4 kWh/°C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" y="591616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entries are validation RMSE (°C).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377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KIRCHER RESEARCH  /  TEMPERATURE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  |  Models trained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3776" y="1298448"/>
            <a:ext cx="11091672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6547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1627632"/>
            <a:ext cx="10936224" cy="109728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0136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794760" y="18745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Boosted decision trees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262872" y="182880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0.147°C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" y="2980944"/>
            <a:ext cx="10936224" cy="109728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546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794760" y="32278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Feed-forward MLP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262872" y="318211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0.151°C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1792" y="4334256"/>
            <a:ext cx="10936224" cy="109728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0799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794760" y="458114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8-step sequence · 16 hidden units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62872" y="4535424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0.044°C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6025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15-minute validation RMSE · LSTM evaluated on 1,303 eligible sequences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377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KIRCHER RESEARCH  /  TEMPERATURE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  |  Full comparison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3776" y="1298448"/>
            <a:ext cx="11091672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6547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664208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46120" y="1664208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15m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74336" y="1664208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 15m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166420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56448" y="1664208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74936" y="1664208"/>
            <a:ext cx="1527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Open-loop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7784" y="2194560"/>
            <a:ext cx="11064240" cy="576072"/>
          </a:xfrm>
          <a:prstGeom prst="roundRect">
            <a:avLst>
              <a:gd name="adj" fmla="val 19048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3317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46120" y="23317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.152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74336" y="23317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.190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65392" y="2331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1.532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56448" y="2331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2.341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774936" y="2331720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2.058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57784" y="2871216"/>
            <a:ext cx="110642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00837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246120" y="30083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.135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74336" y="300837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.167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65392" y="300837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.840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56448" y="3008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1.166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774936" y="300837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1.465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57784" y="3547872"/>
            <a:ext cx="11064240" cy="576072"/>
          </a:xfrm>
          <a:prstGeom prst="roundRect">
            <a:avLst>
              <a:gd name="adj" fmla="val 19048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6850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246120" y="3685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.103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974336" y="36850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.147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565392" y="368503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.446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56448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.660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774936" y="368503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1.410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57784" y="4224528"/>
            <a:ext cx="110642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43616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3246120" y="43616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.112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974336" y="4361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.151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565392" y="436168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.522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156448" y="4361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1.055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774936" y="436168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2.708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557784" y="4901184"/>
            <a:ext cx="11064240" cy="576072"/>
          </a:xfrm>
          <a:prstGeom prst="roundRect">
            <a:avLst>
              <a:gd name="adj" fmla="val 19048"/>
            </a:avLst>
          </a:prstGeom>
          <a:solidFill>
            <a:srgbClr val="E9F4F3"/>
          </a:solidFill>
          <a:ln w="12700">
            <a:solidFill>
              <a:srgbClr val="E9F4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50383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3246120" y="50383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.036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4974336" y="503834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.044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565392" y="503834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.263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8156448" y="5038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.464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774936" y="503834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.691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49224" y="59161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in °C. LSTM: 4,039 training / 1,303 validation sequences; other models: 4,127 / 1,331.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377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KIRCHER RESEARCH  /  TEMPERATURE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  |  Measured vs predicted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3776" y="1298448"/>
            <a:ext cx="11091672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6547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10</a:t>
            </a:r>
            <a:endParaRPr lang="en-US" sz="1000" dirty="0"/>
          </a:p>
        </p:txBody>
      </p:sp>
      <p:pic>
        <p:nvPicPr>
          <p:cNvPr id="7" name="Image 0" descr="/mnt/data/final_temperature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1083564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60350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June 26–28  •  8-hour resets  •  Validation data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377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KIRCHER RESEARCH  /  TEMPERATURE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models learned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3776" y="1298448"/>
            <a:ext cx="11091672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6547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" y="1783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of day (sine)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13632" y="1819656"/>
            <a:ext cx="5901578" cy="246888"/>
          </a:xfrm>
          <a:prstGeom prst="roundRect">
            <a:avLst>
              <a:gd name="adj" fmla="val 44444"/>
            </a:avLst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42448" y="1783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22.8%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24140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13632" y="2450592"/>
            <a:ext cx="3217757" cy="246888"/>
          </a:xfrm>
          <a:prstGeom prst="roundRect">
            <a:avLst>
              <a:gd name="adj" fmla="val 44444"/>
            </a:avLst>
          </a:prstGeom>
          <a:solidFill>
            <a:srgbClr val="9DCACB"/>
          </a:solidFill>
          <a:ln w="12700">
            <a:solidFill>
              <a:srgbClr val="9DCA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42448" y="24140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12.4%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Occupancy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13632" y="3081528"/>
            <a:ext cx="2768238" cy="246888"/>
          </a:xfrm>
          <a:prstGeom prst="roundRect">
            <a:avLst>
              <a:gd name="adj" fmla="val 44444"/>
            </a:avLst>
          </a:prstGeom>
          <a:solidFill>
            <a:srgbClr val="9DCACB"/>
          </a:solidFill>
          <a:ln w="12700">
            <a:solidFill>
              <a:srgbClr val="9DCA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2448" y="3044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10.7%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" y="3675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Cooling power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913632" y="3712464"/>
            <a:ext cx="2282500" cy="246888"/>
          </a:xfrm>
          <a:prstGeom prst="roundRect">
            <a:avLst>
              <a:gd name="adj" fmla="val 44444"/>
            </a:avLst>
          </a:prstGeom>
          <a:solidFill>
            <a:srgbClr val="9DCACB"/>
          </a:solidFill>
          <a:ln w="12700">
            <a:solidFill>
              <a:srgbClr val="9DCA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42448" y="36758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8.8%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306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of day (cosine)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913632" y="4343400"/>
            <a:ext cx="2097862" cy="246888"/>
          </a:xfrm>
          <a:prstGeom prst="roundRect">
            <a:avLst>
              <a:gd name="adj" fmla="val 44444"/>
            </a:avLst>
          </a:prstGeom>
          <a:solidFill>
            <a:srgbClr val="9DCACB"/>
          </a:solidFill>
          <a:ln w="12700">
            <a:solidFill>
              <a:srgbClr val="9DCA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2448" y="4306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" y="4937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sunlight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13632" y="4974336"/>
            <a:ext cx="2080549" cy="246888"/>
          </a:xfrm>
          <a:prstGeom prst="roundRect">
            <a:avLst>
              <a:gd name="adj" fmla="val 44444"/>
            </a:avLst>
          </a:prstGeom>
          <a:solidFill>
            <a:srgbClr val="9DCACB"/>
          </a:solidFill>
          <a:ln w="12700">
            <a:solidFill>
              <a:srgbClr val="9DCA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42448" y="4937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608990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feature importance; predictive influence, not proof of causation.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377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KIRCHER RESEARCH  /  TEMPERATURE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 &amp; limitations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3776" y="1298448"/>
            <a:ext cx="11091672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6547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" y="1645920"/>
            <a:ext cx="5422392" cy="3639312"/>
          </a:xfrm>
          <a:prstGeom prst="roundRect">
            <a:avLst>
              <a:gd name="adj" fmla="val 3015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27064" y="1645920"/>
            <a:ext cx="5312664" cy="3639312"/>
          </a:xfrm>
          <a:prstGeom prst="roundRect">
            <a:avLst>
              <a:gd name="adj" fmla="val 3015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9264" y="2587752"/>
            <a:ext cx="46360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LSTM lowest error in this run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XGBoost strong simpler option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MLP open-loop drift is high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Long-horizon tests matter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28816" y="1938528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08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still unverified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65392" y="2587752"/>
            <a:ext cx="45354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Only one LSTM seed completed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Model selection used validation data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No held-out July 9–23 test file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Different LSTM sample eligibility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5843016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LSTM 24-hour RMSE was 0.525°C; retrained checkpoint yields 0.464°C.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3774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KIRCHER RESEARCH  /  TEMPERATURE FORECASTING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 &amp; next actions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3776" y="1298448"/>
            <a:ext cx="11091672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6547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36776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artifacts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2376" y="2194560"/>
            <a:ext cx="1068019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Dataset + baseline verification script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Model-tuning CSV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Five-model evaluation CSV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Common-sample comparison CSV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Feature-importance CSV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25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Measured/predicted plot + LSTM checkpoint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" y="5330952"/>
            <a:ext cx="10890504" cy="621792"/>
          </a:xfrm>
          <a:prstGeom prst="roundRect">
            <a:avLst>
              <a:gd name="adj" fmla="val 17647"/>
            </a:avLst>
          </a:prstGeom>
          <a:solidFill>
            <a:srgbClr val="E9F4F3"/>
          </a:solidFill>
          <a:ln w="12700">
            <a:solidFill>
              <a:srgbClr val="E9F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5486400"/>
            <a:ext cx="10305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7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repeat LSTM seeds, then evaluate the untouched held-out test data when supplied.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Temperature Prediction | Project Deliverables</dc:title>
  <dc:subject>Building temperature prediction project</dc:subject>
  <dc:creator>Kircher Research</dc:creator>
  <cp:lastModifiedBy>Kircher Research</cp:lastModifiedBy>
  <cp:revision>1</cp:revision>
  <dcterms:created xsi:type="dcterms:W3CDTF">2026-10-25T20:55:50Z</dcterms:created>
  <dcterms:modified xsi:type="dcterms:W3CDTF">2026-10-25T20:55:50Z</dcterms:modified>
</cp:coreProperties>
</file>